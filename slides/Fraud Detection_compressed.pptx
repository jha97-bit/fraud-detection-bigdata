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font" Target="fonts/font1.fntdata"/><Relationship Id="rId27" Type="http://schemas.openxmlformats.org/officeDocument/2006/relationships/font" Target="fonts/font2.fntdata"/><Relationship Id="rId2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everyone. We are Group 5 — Satish, Sara Tariq, Prerna Jha, and Debadri Sanyal. Today, we present our project: Financial Fraud Detection at Scale — built using Big Data Analytics and MLOps with Apache Spark on the IEEE-CIS Fraud Detection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1-1.png"/><Relationship Id="rId2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2-1.png"/><Relationship Id="rId2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3-1.png"/><Relationship Id="rId2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4-1.png"/><Relationship Id="rId2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5-1.png"/><Relationship Id="rId2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6-1.png"/><Relationship Id="rId2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7-1.png"/><Relationship Id="rId2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8-1.png"/><Relationship Id="rId2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9-1.png"/><Relationship Id="rId2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0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4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9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0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905125"/>
            <a:ext cx="7627382" cy="124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Financial Fraud Detection at Scale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44709" y="4436507"/>
            <a:ext cx="762738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Big Data Analytics &amp; MLOps using Apache Spark | IEEE-CIS Fraud Detection Dataset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244709" y="4960620"/>
            <a:ext cx="846296" cy="356235"/>
          </a:xfrm>
          <a:prstGeom prst="roundRect">
            <a:avLst>
              <a:gd name="adj" fmla="val 17881"/>
            </a:avLst>
          </a:prstGeom>
          <a:solidFill>
            <a:srgbClr val="460707"/>
          </a:solidFill>
          <a:ln/>
        </p:spPr>
      </p:sp>
      <p:sp>
        <p:nvSpPr>
          <p:cNvPr id="6" name="Text 3"/>
          <p:cNvSpPr/>
          <p:nvPr/>
        </p:nvSpPr>
        <p:spPr>
          <a:xfrm>
            <a:off x="6358414" y="5017413"/>
            <a:ext cx="618887" cy="242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GROUP 5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185779" y="4953000"/>
            <a:ext cx="3959900" cy="371475"/>
          </a:xfrm>
          <a:prstGeom prst="roundRect">
            <a:avLst>
              <a:gd name="adj" fmla="val 17147"/>
            </a:avLst>
          </a:prstGeom>
          <a:noFill/>
          <a:ln w="7620">
            <a:solidFill>
              <a:srgbClr val="C9131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07104" y="5017413"/>
            <a:ext cx="3717250" cy="242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C9131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SATISH · SARA TARIQ · PRERNA JHA · DEBADRI SANYAL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536" y="1039178"/>
            <a:ext cx="12145328" cy="615112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148746" y="3847406"/>
            <a:ext cx="1955564" cy="949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Real-time Transaction Monitoring</a:t>
            </a:r>
            <a:endParaRPr lang="en-US" sz="1950" dirty="0"/>
          </a:p>
        </p:txBody>
      </p:sp>
      <p:sp>
        <p:nvSpPr>
          <p:cNvPr id="5" name="Text 1"/>
          <p:cNvSpPr/>
          <p:nvPr/>
        </p:nvSpPr>
        <p:spPr>
          <a:xfrm>
            <a:off x="2148746" y="4909600"/>
            <a:ext cx="1955564" cy="949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Detect anomalies instantly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4385686" y="4156919"/>
            <a:ext cx="1955563" cy="949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Machine Learning Models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4385686" y="5219114"/>
            <a:ext cx="1955563" cy="633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Adaptive fraud scoring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6580419" y="4536777"/>
            <a:ext cx="1955564" cy="633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Behavioral Analytics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6580419" y="5282424"/>
            <a:ext cx="1955564" cy="633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User patterns and profiles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8648533" y="4930704"/>
            <a:ext cx="1955564" cy="949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Device &amp; Network Signals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8648533" y="5992898"/>
            <a:ext cx="1955564" cy="633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IP, device fingerprinting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10730716" y="5310561"/>
            <a:ext cx="1955563" cy="633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Investigation Workflows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10730716" y="6056208"/>
            <a:ext cx="1955563" cy="949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Case management &amp; triage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6992" y="713184"/>
            <a:ext cx="4196239" cy="524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Executive Summary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96992" y="1505903"/>
            <a:ext cx="13236297" cy="469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production-scale fraud detection system built on Apache Spark 4.1 and Databricks Serverless, applied to the IEEE-CIS dataset with 590,540 training and 506,692 test transactions across 400+ features. The six-phase pipeline covers problem framing, ingestion, EDA, modeling, MLOps, and business insights.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2121337" y="2903577"/>
            <a:ext cx="1451372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FFE5E5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0.9460</a:t>
            </a:r>
            <a:endParaRPr lang="en-US" sz="2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2150" y="2166104"/>
            <a:ext cx="1769983" cy="17699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98082" y="4109918"/>
            <a:ext cx="2098119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FE5E5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Champion AUC-ROC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96992" y="4452461"/>
            <a:ext cx="4300299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XGBoost best model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9276" y="2903577"/>
            <a:ext cx="1451372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FFE5E5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86.7%</a:t>
            </a:r>
            <a:endParaRPr lang="en-US" sz="2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89" y="2166104"/>
            <a:ext cx="1769983" cy="17699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66021" y="4109918"/>
            <a:ext cx="2098119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FE5E5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Fraud Capture Rate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5164931" y="4452461"/>
            <a:ext cx="4300299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@ Threshold 0.40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1057215" y="2903577"/>
            <a:ext cx="1451372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FFE5E5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$1.45M</a:t>
            </a:r>
            <a:endParaRPr lang="en-US" sz="2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8029" y="2166104"/>
            <a:ext cx="1769983" cy="176998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33961" y="4109918"/>
            <a:ext cx="2098119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FE5E5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Net Annual Benefit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9632871" y="4452461"/>
            <a:ext cx="4300299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Projected ROI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2121337" y="5732740"/>
            <a:ext cx="1451372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FFE5E5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590K</a:t>
            </a:r>
            <a:endParaRPr lang="en-US" sz="23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2150" y="4995267"/>
            <a:ext cx="1769983" cy="176998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798082" y="6939082"/>
            <a:ext cx="2098119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FE5E5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Transactions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696992" y="7281624"/>
            <a:ext cx="4300299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Processed in Spark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6589276" y="5732740"/>
            <a:ext cx="1451372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FFE5E5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0.6753</a:t>
            </a:r>
            <a:endParaRPr lang="en-US" sz="23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0089" y="4995267"/>
            <a:ext cx="1769983" cy="176998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266021" y="6939082"/>
            <a:ext cx="2098119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FE5E5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AUC-PR Score</a:t>
            </a:r>
            <a:endParaRPr lang="en-US" sz="1650" dirty="0"/>
          </a:p>
        </p:txBody>
      </p:sp>
      <p:sp>
        <p:nvSpPr>
          <p:cNvPr id="23" name="Text 16"/>
          <p:cNvSpPr/>
          <p:nvPr/>
        </p:nvSpPr>
        <p:spPr>
          <a:xfrm>
            <a:off x="5164931" y="7281624"/>
            <a:ext cx="4300299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Precision-Recall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11057215" y="5732740"/>
            <a:ext cx="1451372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FFE5E5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3</a:t>
            </a:r>
            <a:endParaRPr lang="en-US" sz="23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8029" y="4995267"/>
            <a:ext cx="1769983" cy="176998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733961" y="6939082"/>
            <a:ext cx="2098119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FE5E5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ML Models</a:t>
            </a:r>
            <a:endParaRPr lang="en-US" sz="1650" dirty="0"/>
          </a:p>
        </p:txBody>
      </p:sp>
      <p:sp>
        <p:nvSpPr>
          <p:cNvPr id="27" name="Text 19"/>
          <p:cNvSpPr/>
          <p:nvPr/>
        </p:nvSpPr>
        <p:spPr>
          <a:xfrm>
            <a:off x="9632871" y="7281624"/>
            <a:ext cx="4300299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Trained &amp; tracked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285280"/>
            <a:ext cx="6237923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Phase 1: Dataset Overview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58309" y="2287905"/>
            <a:ext cx="1311378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IEEE-CIS Fraud Detection dataset from Vesta Corporation contains 590K+ labeled e-commerce transactions with 434 features spanning transaction attributes, card metadata, device info, and behavioral signals.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58309" y="3107650"/>
            <a:ext cx="13113782" cy="3836551"/>
          </a:xfrm>
          <a:prstGeom prst="roundRect">
            <a:avLst>
              <a:gd name="adj" fmla="val 207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5929" y="3115270"/>
            <a:ext cx="13098542" cy="5459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55596" y="3236595"/>
            <a:ext cx="3546634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Training Transactions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888944" y="3236595"/>
            <a:ext cx="8785979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590,540 rows — train_transaction.csv + train_identity.csv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65929" y="3661172"/>
            <a:ext cx="13098542" cy="5459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55596" y="3782497"/>
            <a:ext cx="3546634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Test Transactions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888944" y="3782497"/>
            <a:ext cx="8785979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506,691 rows — test_transaction.csv + test_identity.csv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65929" y="4207073"/>
            <a:ext cx="13098542" cy="5459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55596" y="4328398"/>
            <a:ext cx="3546634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Target Variable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888944" y="4328398"/>
            <a:ext cx="8785979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isFraud (binary: 0 = legitimate, 1 = fraudulent)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65929" y="4752975"/>
            <a:ext cx="13098542" cy="5459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55596" y="4874300"/>
            <a:ext cx="3546634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Class Distribution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888944" y="4874300"/>
            <a:ext cx="8785979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~96.5% legitimate vs. ~3.5% fraud — severely imbalanced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65929" y="5298877"/>
            <a:ext cx="13098542" cy="5459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55596" y="5420201"/>
            <a:ext cx="3546634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Raw Feature Count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888944" y="5420201"/>
            <a:ext cx="8785979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394 transaction + 41 identity = 434 post-join columns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65929" y="5844778"/>
            <a:ext cx="13098542" cy="5459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55596" y="5966103"/>
            <a:ext cx="3546634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Anonymized Features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888944" y="5966103"/>
            <a:ext cx="8785979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V1–V339 (Vesta behavioral signals — majority &gt;60% null)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765929" y="6390680"/>
            <a:ext cx="13098542" cy="5459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55596" y="6512004"/>
            <a:ext cx="3546634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Format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888944" y="6512004"/>
            <a:ext cx="8785979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CSV → Unity Catalog Volume → Delta Lake tables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4643" y="1070610"/>
            <a:ext cx="6406396" cy="503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Business Problem &amp; Success KPIs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1184434" y="1961674"/>
            <a:ext cx="12491323" cy="443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"How can financial institutions leverage large-scale transaction data processed through Apache Spark to detect fraudulent activity, enabling risk-scoring models that minimize financial losses while reducing false positives that harm legitimate customers?"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54643" y="1822371"/>
            <a:ext cx="22860" cy="721757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5" name="Shape 3"/>
          <p:cNvSpPr/>
          <p:nvPr/>
        </p:nvSpPr>
        <p:spPr>
          <a:xfrm>
            <a:off x="844272" y="2683431"/>
            <a:ext cx="6394371" cy="4475440"/>
          </a:xfrm>
          <a:prstGeom prst="roundRect">
            <a:avLst>
              <a:gd name="adj" fmla="val 2466"/>
            </a:avLst>
          </a:prstGeom>
          <a:solidFill>
            <a:srgbClr val="510C04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97506" y="2807256"/>
            <a:ext cx="2016443" cy="252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Why It Matters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97506" y="3183136"/>
            <a:ext cx="6087904" cy="1459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Global card fraud losses exceeded </a:t>
            </a:r>
            <a:pPr algn="l"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$33B in 2023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, growing ~15% YoY</a:t>
            </a:r>
            <a:endParaRPr lang="en-US" sz="120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Rule-based systems cannot scale to billions of transactions or adapt to evolving fraud</a:t>
            </a:r>
            <a:endParaRPr lang="en-US" sz="120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Each false positive costs </a:t>
            </a:r>
            <a:pPr algn="l"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$8–$12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in service, relationship damage, and churn</a:t>
            </a:r>
            <a:endParaRPr lang="en-US" sz="120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CNP fraud, synthetic identity, and account-takeover attacks bypass static rules within days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09748" y="2807256"/>
            <a:ext cx="2016443" cy="252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Success KPIs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509748" y="3198614"/>
            <a:ext cx="6173629" cy="3820954"/>
          </a:xfrm>
          <a:prstGeom prst="roundRect">
            <a:avLst>
              <a:gd name="adj" fmla="val 168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17368" y="3206234"/>
            <a:ext cx="6158389" cy="3854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670721" y="3288149"/>
            <a:ext cx="2460903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KPI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445710" y="3288149"/>
            <a:ext cx="1225510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Target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985308" y="3288149"/>
            <a:ext cx="1537216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Rationale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17368" y="3591639"/>
            <a:ext cx="6158389" cy="60698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670721" y="3673554"/>
            <a:ext cx="2460903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AUC-ROC (primary)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445710" y="3673554"/>
            <a:ext cx="1225510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&gt; 0.90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985308" y="3673554"/>
            <a:ext cx="1537216" cy="443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Imbalanced benchmark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17368" y="4198620"/>
            <a:ext cx="6158389" cy="60698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670721" y="4280535"/>
            <a:ext cx="2460903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Precision @ ≥75% recall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445710" y="4280535"/>
            <a:ext cx="1225510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&gt; 0.85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985308" y="4280535"/>
            <a:ext cx="1537216" cy="443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Balances capture vs. friction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17368" y="4805601"/>
            <a:ext cx="6158389" cy="60698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670721" y="4887516"/>
            <a:ext cx="2460903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MLflow model variants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445710" y="4887516"/>
            <a:ext cx="1225510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≥ 3 runs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985308" y="4887516"/>
            <a:ext cx="1537216" cy="443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Reproducibility &amp; audit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517368" y="5412581"/>
            <a:ext cx="6158389" cy="60698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670721" y="5494496"/>
            <a:ext cx="2460903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EDA visualizations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445710" y="5494496"/>
            <a:ext cx="1225510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≥ 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985308" y="5494496"/>
            <a:ext cx="1537216" cy="443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Business communication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517368" y="6019562"/>
            <a:ext cx="6158389" cy="60698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670721" y="6101477"/>
            <a:ext cx="2460903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Business ROI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445710" y="6101477"/>
            <a:ext cx="1225510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 value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985308" y="6101477"/>
            <a:ext cx="1537216" cy="443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Executive decision value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517368" y="6626543"/>
            <a:ext cx="6158389" cy="3854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670721" y="6708458"/>
            <a:ext cx="2460903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pipeline coverage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445710" y="6708458"/>
            <a:ext cx="1225510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590K+ rows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985308" y="6708458"/>
            <a:ext cx="1537216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True big-data scale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1234" y="481132"/>
            <a:ext cx="7380089" cy="476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Phase 2: Data Ingestion &amp; Preprocessing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01234" y="1179195"/>
            <a:ext cx="12027813" cy="408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All four CSV files were ingested into managed Delta Lake tables via Spark's native CSV reader. A LEFT JOIN on TransactionID preserved all 590,540 transactions while enriching 144,233 records with identity signals. Post-join validation confirmed zero duplicates.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1234" y="1712595"/>
            <a:ext cx="12027813" cy="31826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28975" y="2788714"/>
            <a:ext cx="1818134" cy="68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Deduplication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2228975" y="3566752"/>
            <a:ext cx="1818134" cy="689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dropDuplicates(TransactionID) — 0 removed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312423" y="2694489"/>
            <a:ext cx="1818134" cy="342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Null Analysis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4312423" y="3129807"/>
            <a:ext cx="1818134" cy="689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322 of 434 columns &gt;5% missing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395871" y="2788714"/>
            <a:ext cx="1818134" cy="68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Drop High-Null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6395871" y="3566752"/>
            <a:ext cx="1818134" cy="689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208 cols &gt;60% null dropped (434→226)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479319" y="2581455"/>
            <a:ext cx="1818135" cy="68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Median Impute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8479319" y="3359492"/>
            <a:ext cx="1818135" cy="459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Imputed 104 numeric columns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574342" y="2788714"/>
            <a:ext cx="1818134" cy="342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Mode Impute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10574342" y="3224032"/>
            <a:ext cx="1818134" cy="689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Imputed 10 categorical columns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301234" y="5130522"/>
            <a:ext cx="3420308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Categorical Encoding (LabelEncoder)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1301234" y="5493306"/>
            <a:ext cx="5837158" cy="2130504"/>
          </a:xfrm>
          <a:prstGeom prst="roundRect">
            <a:avLst>
              <a:gd name="adj" fmla="val 2857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308854" y="5500926"/>
            <a:ext cx="5821918" cy="3525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1453872" y="5574983"/>
            <a:ext cx="1744028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Column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495318" y="5574983"/>
            <a:ext cx="1740218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Encoded As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532953" y="5574983"/>
            <a:ext cx="1452920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Distinct Values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308854" y="5853470"/>
            <a:ext cx="5821918" cy="3525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1453872" y="5927527"/>
            <a:ext cx="1744028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ProductCD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495318" y="5927527"/>
            <a:ext cx="1740218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ProductCD_idx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532953" y="5927527"/>
            <a:ext cx="1452920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 (W,H,C,S,R)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308854" y="6206014"/>
            <a:ext cx="5821918" cy="3525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1453872" y="6280071"/>
            <a:ext cx="1744028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card4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495318" y="6280071"/>
            <a:ext cx="1740218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card4_idx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532953" y="6280071"/>
            <a:ext cx="1452920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 networks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1308854" y="6558558"/>
            <a:ext cx="5821918" cy="3525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1453872" y="6632615"/>
            <a:ext cx="1744028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card6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495318" y="6632615"/>
            <a:ext cx="1740218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card6_idx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532953" y="6632615"/>
            <a:ext cx="1452920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 types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1308854" y="6911102"/>
            <a:ext cx="5821918" cy="3525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1453872" y="6985159"/>
            <a:ext cx="1744028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DeviceType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3495318" y="6985159"/>
            <a:ext cx="1740218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DeviceType_idx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532953" y="6985159"/>
            <a:ext cx="1452920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 channels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1308854" y="7263646"/>
            <a:ext cx="5821918" cy="3525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1453872" y="7337703"/>
            <a:ext cx="1744028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P_emaildomain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3495318" y="7337703"/>
            <a:ext cx="1740218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P_emaildomain_idx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5532953" y="7337703"/>
            <a:ext cx="1452920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59 domains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7499390" y="5130522"/>
            <a:ext cx="225242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Delta Layer Architecture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7499390" y="5493306"/>
            <a:ext cx="5837158" cy="1777960"/>
          </a:xfrm>
          <a:prstGeom prst="roundRect">
            <a:avLst>
              <a:gd name="adj" fmla="val 3423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507010" y="5500926"/>
            <a:ext cx="5821918" cy="3525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7652147" y="5574983"/>
            <a:ext cx="2326243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Table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10275808" y="5574983"/>
            <a:ext cx="866894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Rows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11440120" y="5574983"/>
            <a:ext cx="575786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Cols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12313325" y="5574983"/>
            <a:ext cx="870704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Layer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7507010" y="5853470"/>
            <a:ext cx="5821918" cy="3525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9" name="Text 46"/>
          <p:cNvSpPr/>
          <p:nvPr/>
        </p:nvSpPr>
        <p:spPr>
          <a:xfrm>
            <a:off x="7652147" y="5927527"/>
            <a:ext cx="2326243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fraud_train_clean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10275808" y="5927527"/>
            <a:ext cx="866894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590,540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11440120" y="5927527"/>
            <a:ext cx="575786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48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12313325" y="5927527"/>
            <a:ext cx="870704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Silver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7507010" y="6206014"/>
            <a:ext cx="5821918" cy="3525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4" name="Text 51"/>
          <p:cNvSpPr/>
          <p:nvPr/>
        </p:nvSpPr>
        <p:spPr>
          <a:xfrm>
            <a:off x="7652147" y="6280071"/>
            <a:ext cx="2326243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fraud_test_clean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10275808" y="6280071"/>
            <a:ext cx="866894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506,691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11440120" y="6280071"/>
            <a:ext cx="575786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47</a:t>
            </a:r>
            <a:endParaRPr lang="en-US" sz="1100" dirty="0"/>
          </a:p>
        </p:txBody>
      </p:sp>
      <p:sp>
        <p:nvSpPr>
          <p:cNvPr id="57" name="Text 54"/>
          <p:cNvSpPr/>
          <p:nvPr/>
        </p:nvSpPr>
        <p:spPr>
          <a:xfrm>
            <a:off x="12313325" y="6280071"/>
            <a:ext cx="870704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Silver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7507010" y="6558558"/>
            <a:ext cx="5821918" cy="3525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9" name="Text 56"/>
          <p:cNvSpPr/>
          <p:nvPr/>
        </p:nvSpPr>
        <p:spPr>
          <a:xfrm>
            <a:off x="7652147" y="6632615"/>
            <a:ext cx="2326243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fraud_features_train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10275808" y="6632615"/>
            <a:ext cx="866894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590,540</a:t>
            </a:r>
            <a:endParaRPr lang="en-US" sz="1100" dirty="0"/>
          </a:p>
        </p:txBody>
      </p:sp>
      <p:sp>
        <p:nvSpPr>
          <p:cNvPr id="61" name="Text 58"/>
          <p:cNvSpPr/>
          <p:nvPr/>
        </p:nvSpPr>
        <p:spPr>
          <a:xfrm>
            <a:off x="11440120" y="6632615"/>
            <a:ext cx="575786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44</a:t>
            </a:r>
            <a:endParaRPr lang="en-US" sz="1100" dirty="0"/>
          </a:p>
        </p:txBody>
      </p:sp>
      <p:sp>
        <p:nvSpPr>
          <p:cNvPr id="62" name="Text 59"/>
          <p:cNvSpPr/>
          <p:nvPr/>
        </p:nvSpPr>
        <p:spPr>
          <a:xfrm>
            <a:off x="12313325" y="6632615"/>
            <a:ext cx="870704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Gold</a:t>
            </a:r>
            <a:endParaRPr lang="en-US" sz="1100" dirty="0"/>
          </a:p>
        </p:txBody>
      </p:sp>
      <p:sp>
        <p:nvSpPr>
          <p:cNvPr id="63" name="Shape 60"/>
          <p:cNvSpPr/>
          <p:nvPr/>
        </p:nvSpPr>
        <p:spPr>
          <a:xfrm>
            <a:off x="7507010" y="6911102"/>
            <a:ext cx="5821918" cy="3525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4" name="Text 61"/>
          <p:cNvSpPr/>
          <p:nvPr/>
        </p:nvSpPr>
        <p:spPr>
          <a:xfrm>
            <a:off x="7652147" y="6985159"/>
            <a:ext cx="2326243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fraud_features_test</a:t>
            </a:r>
            <a:endParaRPr lang="en-US" sz="1100" dirty="0"/>
          </a:p>
        </p:txBody>
      </p:sp>
      <p:sp>
        <p:nvSpPr>
          <p:cNvPr id="65" name="Text 62"/>
          <p:cNvSpPr/>
          <p:nvPr/>
        </p:nvSpPr>
        <p:spPr>
          <a:xfrm>
            <a:off x="10275808" y="6985159"/>
            <a:ext cx="866894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506,691</a:t>
            </a:r>
            <a:endParaRPr lang="en-US" sz="1100" dirty="0"/>
          </a:p>
        </p:txBody>
      </p:sp>
      <p:sp>
        <p:nvSpPr>
          <p:cNvPr id="66" name="Text 63"/>
          <p:cNvSpPr/>
          <p:nvPr/>
        </p:nvSpPr>
        <p:spPr>
          <a:xfrm>
            <a:off x="11440120" y="6985159"/>
            <a:ext cx="575786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43</a:t>
            </a:r>
            <a:endParaRPr lang="en-US" sz="1100" dirty="0"/>
          </a:p>
        </p:txBody>
      </p:sp>
      <p:sp>
        <p:nvSpPr>
          <p:cNvPr id="67" name="Text 64"/>
          <p:cNvSpPr/>
          <p:nvPr/>
        </p:nvSpPr>
        <p:spPr>
          <a:xfrm>
            <a:off x="12313325" y="6985159"/>
            <a:ext cx="870704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Gold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501854"/>
            <a:ext cx="12850058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Phase 3: EDA — Summary Statistics &amp; Class Imbalance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58309" y="2599253"/>
            <a:ext cx="3732014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TransactionAmt by Fraud Label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758309" y="3124200"/>
            <a:ext cx="6597134" cy="1956197"/>
          </a:xfrm>
          <a:prstGeom prst="roundRect">
            <a:avLst>
              <a:gd name="adj" fmla="val 407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5929" y="3131820"/>
            <a:ext cx="6581894" cy="8491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55834" y="3253145"/>
            <a:ext cx="805696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isFraud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148245" y="3253145"/>
            <a:ext cx="755809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Count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290768" y="3253145"/>
            <a:ext cx="68806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Mean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365546" y="3253145"/>
            <a:ext cx="76640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Median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518666" y="3253145"/>
            <a:ext cx="67032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Std Dev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75703" y="3253145"/>
            <a:ext cx="582573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Max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65929" y="3980974"/>
            <a:ext cx="6581894" cy="5459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55834" y="4102298"/>
            <a:ext cx="805696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 (Legit)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148245" y="4102298"/>
            <a:ext cx="755809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569,877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290768" y="4102298"/>
            <a:ext cx="68806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134.51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365546" y="4102298"/>
            <a:ext cx="76640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68.50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518666" y="4102298"/>
            <a:ext cx="67032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239.40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75703" y="4102298"/>
            <a:ext cx="582573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31,937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65929" y="4526875"/>
            <a:ext cx="6581894" cy="5459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55834" y="4648200"/>
            <a:ext cx="805696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 (Fraud)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2148245" y="4648200"/>
            <a:ext cx="755809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20,663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3290768" y="4648200"/>
            <a:ext cx="68806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149.24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365546" y="4648200"/>
            <a:ext cx="76640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75.00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518666" y="4648200"/>
            <a:ext cx="67032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232.21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575703" y="4648200"/>
            <a:ext cx="582573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5,191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58309" y="5293638"/>
            <a:ext cx="6597134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Fraudulent transactions have a slightly higher mean ($149 vs $134) and median ($75 vs $68), with a heavier upper tail — suggesting fraudsters target higher-value transactions.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825502" y="2599253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Class Distribution</a:t>
            </a:r>
            <a:endParaRPr lang="en-US" sz="195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5502" y="3203909"/>
            <a:ext cx="6057900" cy="3315903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11826904" y="4624352"/>
            <a:ext cx="1495295" cy="172122"/>
          </a:xfrm>
          <a:prstGeom prst="roundRect">
            <a:avLst>
              <a:gd name="adj" fmla="val 74375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2700" y="4662588"/>
            <a:ext cx="95652" cy="95651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12010235" y="4648265"/>
            <a:ext cx="1256167" cy="124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Legitimate (96.5%)·96.48%</a:t>
            </a:r>
            <a:endParaRPr lang="en-US" sz="700" dirty="0"/>
          </a:p>
        </p:txBody>
      </p:sp>
      <p:sp>
        <p:nvSpPr>
          <p:cNvPr id="32" name="Text 28"/>
          <p:cNvSpPr/>
          <p:nvPr/>
        </p:nvSpPr>
        <p:spPr>
          <a:xfrm>
            <a:off x="12840208" y="4648265"/>
            <a:ext cx="426194" cy="124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·96.48%</a:t>
            </a:r>
            <a:endParaRPr lang="en-US" sz="700" dirty="0"/>
          </a:p>
        </p:txBody>
      </p:sp>
      <p:sp>
        <p:nvSpPr>
          <p:cNvPr id="33" name="Text 29"/>
          <p:cNvSpPr/>
          <p:nvPr/>
        </p:nvSpPr>
        <p:spPr>
          <a:xfrm>
            <a:off x="12878443" y="4648265"/>
            <a:ext cx="25657" cy="124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34" name="Shape 30"/>
          <p:cNvSpPr/>
          <p:nvPr/>
        </p:nvSpPr>
        <p:spPr>
          <a:xfrm>
            <a:off x="11826904" y="4860241"/>
            <a:ext cx="1166245" cy="172122"/>
          </a:xfrm>
          <a:prstGeom prst="roundRect">
            <a:avLst>
              <a:gd name="adj" fmla="val 74375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2700" y="4898477"/>
            <a:ext cx="95652" cy="95651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12010235" y="4884154"/>
            <a:ext cx="927118" cy="124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Fraud (3.5%)·3.52%</a:t>
            </a:r>
            <a:endParaRPr lang="en-US" sz="700" dirty="0"/>
          </a:p>
        </p:txBody>
      </p:sp>
      <p:sp>
        <p:nvSpPr>
          <p:cNvPr id="37" name="Text 32"/>
          <p:cNvSpPr/>
          <p:nvPr/>
        </p:nvSpPr>
        <p:spPr>
          <a:xfrm>
            <a:off x="12565958" y="4884154"/>
            <a:ext cx="371396" cy="124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·3.52%</a:t>
            </a:r>
            <a:endParaRPr lang="en-US" sz="700" dirty="0"/>
          </a:p>
        </p:txBody>
      </p:sp>
      <p:sp>
        <p:nvSpPr>
          <p:cNvPr id="38" name="Text 33"/>
          <p:cNvSpPr/>
          <p:nvPr/>
        </p:nvSpPr>
        <p:spPr>
          <a:xfrm>
            <a:off x="12604193" y="4884154"/>
            <a:ext cx="25656" cy="124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015960"/>
            <a:ext cx="9700617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EDA — Fraud Rates by Category &amp; Device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58309" y="2113359"/>
            <a:ext cx="3024307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Fraud Rate by ProductCD</a:t>
            </a:r>
            <a:endParaRPr lang="en-US" sz="1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2638306"/>
            <a:ext cx="6324600" cy="35451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54039" y="2113359"/>
            <a:ext cx="3175278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Fraud Rate by Device Type</a:t>
            </a:r>
            <a:endParaRPr lang="en-US" sz="1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4039" y="2638306"/>
            <a:ext cx="6324600" cy="35451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8309" y="6607135"/>
            <a:ext cx="1311378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 C carries the highest fraud rate (11.69%) — nearly 6× the baseline. Mobile transactions show 10.17% fraud vs. 6.52% for desktop. Unknown device records form a distinct lower-risk group at 2.10%.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825937"/>
            <a:ext cx="11341418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EDA — Temporal Patterns &amp; Feature Correlations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58309" y="1923336"/>
            <a:ext cx="3143726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Fraud Rate by Hour of Day</a:t>
            </a:r>
            <a:endParaRPr lang="en-US" sz="1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2448282"/>
            <a:ext cx="7002780" cy="39252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32815" y="1923336"/>
            <a:ext cx="4474726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Top Feature Correlations with isFraud</a:t>
            </a:r>
            <a:endParaRPr lang="en-US" sz="1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2815" y="2448282"/>
            <a:ext cx="5646375" cy="28763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8309" y="6797159"/>
            <a:ext cx="1311378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Fraud peaks at midnight–5am and again after 10pm. Daytime (9am–5pm) shows suppressed rates. Geographic features addr2 and addr1 are the strongest linear predictors; TransactionAmt is weak (r=0.011).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927140"/>
            <a:ext cx="11262122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Key EDA Insights for Business Decision-Making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58309" y="1929765"/>
            <a:ext cx="6462117" cy="1456730"/>
          </a:xfrm>
          <a:prstGeom prst="roundRect">
            <a:avLst>
              <a:gd name="adj" fmla="val 7532"/>
            </a:avLst>
          </a:prstGeom>
          <a:solidFill>
            <a:srgbClr val="0A0A0A">
              <a:alpha val="95000"/>
            </a:srgbClr>
          </a:solidFill>
          <a:ln w="22860">
            <a:solidFill>
              <a:srgbClr val="8D24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5449" y="1929765"/>
            <a:ext cx="91440" cy="1456730"/>
          </a:xfrm>
          <a:prstGeom prst="roundRect">
            <a:avLst>
              <a:gd name="adj" fmla="val 87077"/>
            </a:avLst>
          </a:prstGeom>
          <a:solidFill>
            <a:srgbClr val="C91313"/>
          </a:solidFill>
          <a:ln/>
        </p:spPr>
      </p:sp>
      <p:sp>
        <p:nvSpPr>
          <p:cNvPr id="5" name="Text 3"/>
          <p:cNvSpPr/>
          <p:nvPr/>
        </p:nvSpPr>
        <p:spPr>
          <a:xfrm>
            <a:off x="1039297" y="2142173"/>
            <a:ext cx="5682972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1. Class Imbalance Requires Specialized Metrics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39297" y="2567583"/>
            <a:ext cx="596872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 3.5% fraud prevalence, accuracy is misleading. Prioritize AUC-ROC, AUC-PR, and fraud capture rate.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409974" y="1929765"/>
            <a:ext cx="6462117" cy="1456730"/>
          </a:xfrm>
          <a:prstGeom prst="roundRect">
            <a:avLst>
              <a:gd name="adj" fmla="val 7532"/>
            </a:avLst>
          </a:prstGeom>
          <a:solidFill>
            <a:srgbClr val="0A0A0A">
              <a:alpha val="95000"/>
            </a:srgbClr>
          </a:solidFill>
          <a:ln w="22860">
            <a:solidFill>
              <a:srgbClr val="8D24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87114" y="1929765"/>
            <a:ext cx="91440" cy="1456730"/>
          </a:xfrm>
          <a:prstGeom prst="roundRect">
            <a:avLst>
              <a:gd name="adj" fmla="val 87077"/>
            </a:avLst>
          </a:prstGeom>
          <a:solidFill>
            <a:srgbClr val="C91313"/>
          </a:solidFill>
          <a:ln/>
        </p:spPr>
      </p:sp>
      <p:sp>
        <p:nvSpPr>
          <p:cNvPr id="9" name="Text 7"/>
          <p:cNvSpPr/>
          <p:nvPr/>
        </p:nvSpPr>
        <p:spPr>
          <a:xfrm>
            <a:off x="7690961" y="2142173"/>
            <a:ext cx="5270778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2. Higher-Value Transactions = Elevated Risk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690961" y="2567583"/>
            <a:ext cx="596872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Fraudsters target larger amounts. Apply tiered authentication (OTP/manual review) for high-value transactions.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58309" y="3576042"/>
            <a:ext cx="6462117" cy="1768435"/>
          </a:xfrm>
          <a:prstGeom prst="roundRect">
            <a:avLst>
              <a:gd name="adj" fmla="val 6205"/>
            </a:avLst>
          </a:prstGeom>
          <a:solidFill>
            <a:srgbClr val="0A0A0A">
              <a:alpha val="95000"/>
            </a:srgbClr>
          </a:solidFill>
          <a:ln w="22860">
            <a:solidFill>
              <a:srgbClr val="8D24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5449" y="3576042"/>
            <a:ext cx="91440" cy="1768435"/>
          </a:xfrm>
          <a:prstGeom prst="roundRect">
            <a:avLst>
              <a:gd name="adj" fmla="val 87077"/>
            </a:avLst>
          </a:prstGeom>
          <a:solidFill>
            <a:srgbClr val="C91313"/>
          </a:solidFill>
          <a:ln/>
        </p:spPr>
      </p:sp>
      <p:sp>
        <p:nvSpPr>
          <p:cNvPr id="13" name="Text 11"/>
          <p:cNvSpPr/>
          <p:nvPr/>
        </p:nvSpPr>
        <p:spPr>
          <a:xfrm>
            <a:off x="1039297" y="3788450"/>
            <a:ext cx="5968722" cy="623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3. Product Category &amp; Device Type Are Strong Signals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39297" y="4525566"/>
            <a:ext cx="596872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 C (11.69%) and mobile (10.17%) are high-risk. Device-aware and product-specific thresholds improve precision.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409974" y="3576042"/>
            <a:ext cx="6462117" cy="1768435"/>
          </a:xfrm>
          <a:prstGeom prst="roundRect">
            <a:avLst>
              <a:gd name="adj" fmla="val 6205"/>
            </a:avLst>
          </a:prstGeom>
          <a:solidFill>
            <a:srgbClr val="0A0A0A">
              <a:alpha val="95000"/>
            </a:srgbClr>
          </a:solidFill>
          <a:ln w="22860">
            <a:solidFill>
              <a:srgbClr val="8D242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87114" y="3576042"/>
            <a:ext cx="91440" cy="1768435"/>
          </a:xfrm>
          <a:prstGeom prst="roundRect">
            <a:avLst>
              <a:gd name="adj" fmla="val 87077"/>
            </a:avLst>
          </a:prstGeom>
          <a:solidFill>
            <a:srgbClr val="C91313"/>
          </a:solidFill>
          <a:ln/>
        </p:spPr>
      </p:sp>
      <p:sp>
        <p:nvSpPr>
          <p:cNvPr id="17" name="Text 15"/>
          <p:cNvSpPr/>
          <p:nvPr/>
        </p:nvSpPr>
        <p:spPr>
          <a:xfrm>
            <a:off x="7690961" y="3788450"/>
            <a:ext cx="5968722" cy="623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4. Email Domain &amp; Temporal Patterns Enable Fast Pre-Screening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690961" y="4525566"/>
            <a:ext cx="596872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Domain-level watchlists and time-of-day thresholds improve detection at near-zero operational cost.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58309" y="5534025"/>
            <a:ext cx="6462117" cy="1768435"/>
          </a:xfrm>
          <a:prstGeom prst="roundRect">
            <a:avLst>
              <a:gd name="adj" fmla="val 6205"/>
            </a:avLst>
          </a:prstGeom>
          <a:solidFill>
            <a:srgbClr val="0A0A0A">
              <a:alpha val="95000"/>
            </a:srgbClr>
          </a:solidFill>
          <a:ln w="22860">
            <a:solidFill>
              <a:srgbClr val="8D24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5449" y="5534025"/>
            <a:ext cx="91440" cy="1768435"/>
          </a:xfrm>
          <a:prstGeom prst="roundRect">
            <a:avLst>
              <a:gd name="adj" fmla="val 87077"/>
            </a:avLst>
          </a:prstGeom>
          <a:solidFill>
            <a:srgbClr val="C91313"/>
          </a:solidFill>
          <a:ln/>
        </p:spPr>
      </p:sp>
      <p:sp>
        <p:nvSpPr>
          <p:cNvPr id="21" name="Text 19"/>
          <p:cNvSpPr/>
          <p:nvPr/>
        </p:nvSpPr>
        <p:spPr>
          <a:xfrm>
            <a:off x="1039297" y="5746433"/>
            <a:ext cx="5963960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5. C-Series Behavioral Features Are Top Predictors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39297" y="6171843"/>
            <a:ext cx="596872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Transaction frequency signals (C1–C14) outperform most raw attributes. Monitor PSI &gt; 0.20 for drift alerts.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7409974" y="5534025"/>
            <a:ext cx="6462117" cy="1768435"/>
          </a:xfrm>
          <a:prstGeom prst="roundRect">
            <a:avLst>
              <a:gd name="adj" fmla="val 6205"/>
            </a:avLst>
          </a:prstGeom>
          <a:solidFill>
            <a:srgbClr val="0A0A0A">
              <a:alpha val="95000"/>
            </a:srgbClr>
          </a:solidFill>
          <a:ln w="22860">
            <a:solidFill>
              <a:srgbClr val="8D242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87114" y="5534025"/>
            <a:ext cx="91440" cy="1768435"/>
          </a:xfrm>
          <a:prstGeom prst="roundRect">
            <a:avLst>
              <a:gd name="adj" fmla="val 87077"/>
            </a:avLst>
          </a:prstGeom>
          <a:solidFill>
            <a:srgbClr val="C91313"/>
          </a:solidFill>
          <a:ln/>
        </p:spPr>
      </p:sp>
      <p:sp>
        <p:nvSpPr>
          <p:cNvPr id="25" name="Text 23"/>
          <p:cNvSpPr/>
          <p:nvPr/>
        </p:nvSpPr>
        <p:spPr>
          <a:xfrm>
            <a:off x="7690961" y="5746433"/>
            <a:ext cx="5968722" cy="623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6. Missing Identity Signals Are Themselves a Risk Indicator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7690961" y="6483548"/>
            <a:ext cx="596872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High null rates in identity fields reflect incomplete verification. Encourage stronger identity checks for risky segments.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5202" y="965716"/>
            <a:ext cx="10348793" cy="547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0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Phase 4: Modeling Pipeline &amp; Feature Engineering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5425" y="1731645"/>
            <a:ext cx="6001345" cy="5532120"/>
          </a:xfrm>
          <a:prstGeom prst="roundRect">
            <a:avLst>
              <a:gd name="adj" fmla="val 2165"/>
            </a:avLst>
          </a:prstGeom>
          <a:solidFill>
            <a:srgbClr val="510C04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11637" y="1877497"/>
            <a:ext cx="2188369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Pipeline Parameters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1637" y="2315051"/>
            <a:ext cx="5668923" cy="3535680"/>
          </a:xfrm>
          <a:prstGeom prst="roundRect">
            <a:avLst>
              <a:gd name="adj" fmla="val 1976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9257" y="2322671"/>
            <a:ext cx="5653683" cy="44005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85587" y="2417802"/>
            <a:ext cx="2207895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Parameter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33524" y="2417802"/>
            <a:ext cx="2773204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Value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9257" y="2762726"/>
            <a:ext cx="5653683" cy="44005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85587" y="2857857"/>
            <a:ext cx="2207895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Total samples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33524" y="2857857"/>
            <a:ext cx="2773204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590,540 (no sub-sampling)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9257" y="3202781"/>
            <a:ext cx="5653683" cy="44005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85587" y="3297912"/>
            <a:ext cx="2207895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Feature columns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33524" y="3297912"/>
            <a:ext cx="2773204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43 numeric features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9257" y="3642836"/>
            <a:ext cx="5653683" cy="44005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85587" y="3737967"/>
            <a:ext cx="2207895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Train/Val split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33524" y="3737967"/>
            <a:ext cx="2773204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80% / 20% stratified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9257" y="4082891"/>
            <a:ext cx="5653683" cy="44005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85587" y="4178022"/>
            <a:ext cx="2207895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Training rows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33524" y="4178022"/>
            <a:ext cx="2773204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472,432 (~16,535 fraud)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19257" y="4522946"/>
            <a:ext cx="5653683" cy="44005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85587" y="4618077"/>
            <a:ext cx="2207895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Validation rows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33524" y="4618077"/>
            <a:ext cx="2773204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118,108 (~4,134 fraud)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19257" y="4963001"/>
            <a:ext cx="5653683" cy="44005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85587" y="5058132"/>
            <a:ext cx="2207895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33524" y="5058132"/>
            <a:ext cx="2773204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StandardScaler (train only)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19257" y="5403056"/>
            <a:ext cx="5653683" cy="44005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85587" y="5498187"/>
            <a:ext cx="2207895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Random seed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33524" y="5498187"/>
            <a:ext cx="2773204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42 (all models)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40379" y="1877497"/>
            <a:ext cx="3224570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43-Feature Engineering Matrix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6840379" y="2315051"/>
            <a:ext cx="7132320" cy="4784646"/>
          </a:xfrm>
          <a:prstGeom prst="roundRect">
            <a:avLst>
              <a:gd name="adj" fmla="val 146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47999" y="2322671"/>
            <a:ext cx="7117080" cy="44005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014329" y="2417802"/>
            <a:ext cx="2510552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Feature Group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864923" y="2417802"/>
            <a:ext cx="727472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Count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932438" y="2417802"/>
            <a:ext cx="2866430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Features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847999" y="2762726"/>
            <a:ext cx="7117080" cy="68984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7014329" y="2857857"/>
            <a:ext cx="2510552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Transaction Core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864923" y="2857857"/>
            <a:ext cx="727472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932438" y="2857857"/>
            <a:ext cx="2866430" cy="499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TransactionAmt, ProductCD, dist1/2, hour_of_day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847999" y="3452574"/>
            <a:ext cx="7117080" cy="44005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014329" y="3547705"/>
            <a:ext cx="2510552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Card Attributes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864923" y="3547705"/>
            <a:ext cx="727472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0932438" y="3547705"/>
            <a:ext cx="2866430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card1–card6 (type, bank, country)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847999" y="3892629"/>
            <a:ext cx="7117080" cy="68984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7014329" y="3987760"/>
            <a:ext cx="2510552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Address Signals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864923" y="3987760"/>
            <a:ext cx="727472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0932438" y="3987760"/>
            <a:ext cx="2866430" cy="499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addr1 (ZIP bin), addr2 (country code)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847999" y="4582478"/>
            <a:ext cx="7117080" cy="68984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7014329" y="4677608"/>
            <a:ext cx="2510552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Email Domains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9864923" y="4677608"/>
            <a:ext cx="727472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0932438" y="4677608"/>
            <a:ext cx="2866430" cy="499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P_emaildomain, R_emaildomain (encoded)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847999" y="5272326"/>
            <a:ext cx="7117080" cy="68984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7014329" y="5367457"/>
            <a:ext cx="2510552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C-Series Counts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9864923" y="5367457"/>
            <a:ext cx="727472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14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10932438" y="5367457"/>
            <a:ext cx="2866430" cy="499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C1–C14: entity transaction frequency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847999" y="5962174"/>
            <a:ext cx="7117080" cy="44005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7014329" y="6057305"/>
            <a:ext cx="2510552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D-Series Deltas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864923" y="6057305"/>
            <a:ext cx="727472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10932438" y="6057305"/>
            <a:ext cx="2866430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D1–D6: days since last transaction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6847999" y="6402229"/>
            <a:ext cx="7117080" cy="68984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7014329" y="6497360"/>
            <a:ext cx="2510552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M-Series Matches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9864923" y="6497360"/>
            <a:ext cx="727472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10932438" y="6497360"/>
            <a:ext cx="2866430" cy="499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M1–M6: name/address/zip match flags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7942" y="544949"/>
            <a:ext cx="9265563" cy="557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Three-Model Strategy: Results Comparison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77942" y="1405414"/>
            <a:ext cx="13274516" cy="513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models were trained in deliberate progression — interpretable baseline → strong ensemble → champion. Class imbalance addressed via </a:t>
            </a:r>
            <a:pPr algn="l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class_weight='balanced'</a:t>
            </a:r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(LR/RF) and </a:t>
            </a:r>
            <a:pPr algn="l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scale_pos_weight=26.6</a:t>
            </a:r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(XGBoost).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77942" y="2089428"/>
            <a:ext cx="1467034" cy="228805"/>
          </a:xfrm>
          <a:prstGeom prst="roundRect">
            <a:avLst>
              <a:gd name="adj" fmla="val 5595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113" y="2140255"/>
            <a:ext cx="127151" cy="1271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1647" y="2121215"/>
            <a:ext cx="1149157" cy="165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Logistic Regression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2229743" y="2089428"/>
            <a:ext cx="1225481" cy="228805"/>
          </a:xfrm>
          <a:prstGeom prst="roundRect">
            <a:avLst>
              <a:gd name="adj" fmla="val 5595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914" y="2140255"/>
            <a:ext cx="127151" cy="1271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473449" y="2121215"/>
            <a:ext cx="907604" cy="165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Random Forest</a:t>
            </a:r>
            <a:endParaRPr lang="en-US" sz="700" dirty="0"/>
          </a:p>
        </p:txBody>
      </p:sp>
      <p:sp>
        <p:nvSpPr>
          <p:cNvPr id="10" name="Shape 6"/>
          <p:cNvSpPr/>
          <p:nvPr/>
        </p:nvSpPr>
        <p:spPr>
          <a:xfrm>
            <a:off x="3539991" y="2089428"/>
            <a:ext cx="825817" cy="228805"/>
          </a:xfrm>
          <a:prstGeom prst="roundRect">
            <a:avLst>
              <a:gd name="adj" fmla="val 5595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4162" y="2140255"/>
            <a:ext cx="127151" cy="12715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783696" y="2121215"/>
            <a:ext cx="507940" cy="165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XGBoost</a:t>
            </a:r>
            <a:endParaRPr lang="en-US" sz="7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942" y="2424192"/>
            <a:ext cx="11727166" cy="3591179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77942" y="6190536"/>
            <a:ext cx="4323874" cy="1494115"/>
          </a:xfrm>
          <a:prstGeom prst="roundRect">
            <a:avLst>
              <a:gd name="adj" fmla="val 4764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854988" y="6367582"/>
            <a:ext cx="2230041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Logistic Regression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854988" y="6737152"/>
            <a:ext cx="3969782" cy="770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AUC-ROC: 0.7779 </a:t>
            </a:r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❌</a:t>
            </a:r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Precision @ 0.40: 6.79%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C=0.1, saga, balanced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153263" y="6190536"/>
            <a:ext cx="4323874" cy="1494115"/>
          </a:xfrm>
          <a:prstGeom prst="roundRect">
            <a:avLst>
              <a:gd name="adj" fmla="val 4764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5330309" y="6367582"/>
            <a:ext cx="2230041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Random Forest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5330309" y="6737152"/>
            <a:ext cx="3969782" cy="770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AUC-ROC: 0.9164 ✓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Precision @ 0.40: 15.28%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n=200, depth=12, balanced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9628584" y="6190536"/>
            <a:ext cx="4323874" cy="1494115"/>
          </a:xfrm>
          <a:prstGeom prst="roundRect">
            <a:avLst>
              <a:gd name="adj" fmla="val 4764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9805630" y="6367582"/>
            <a:ext cx="2230041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XGBoost Champion</a:t>
            </a:r>
            <a:endParaRPr lang="en-US" sz="1750" dirty="0"/>
          </a:p>
        </p:txBody>
      </p:sp>
      <p:sp>
        <p:nvSpPr>
          <p:cNvPr id="22" name="Text 16"/>
          <p:cNvSpPr/>
          <p:nvPr/>
        </p:nvSpPr>
        <p:spPr>
          <a:xfrm>
            <a:off x="9805630" y="6737152"/>
            <a:ext cx="3969782" cy="770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AUC-ROC: 0.9460 </a:t>
            </a:r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⭐</a:t>
            </a:r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Precision @ 0.40: 20.52%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depth=6, n=400, lr=0.1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763905"/>
            <a:ext cx="13113782" cy="124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XGBoost Champion: Threshold Analysis &amp; Feature Importance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58309" y="2484834"/>
            <a:ext cx="4283273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Threshold Analysis (Best Estimator)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758309" y="3009781"/>
            <a:ext cx="602718" cy="160431"/>
          </a:xfrm>
          <a:prstGeom prst="roundRect">
            <a:avLst>
              <a:gd name="adj" fmla="val 79795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316" y="3045419"/>
            <a:ext cx="89154" cy="891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9188" y="3032069"/>
            <a:ext cx="379833" cy="115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Precision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1420463" y="3009781"/>
            <a:ext cx="467478" cy="160431"/>
          </a:xfrm>
          <a:prstGeom prst="roundRect">
            <a:avLst>
              <a:gd name="adj" fmla="val 79795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470" y="3045419"/>
            <a:ext cx="89154" cy="8915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91342" y="3032069"/>
            <a:ext cx="244593" cy="115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Recall</a:t>
            </a:r>
            <a:endParaRPr lang="en-US" sz="700" dirty="0"/>
          </a:p>
        </p:txBody>
      </p:sp>
      <p:sp>
        <p:nvSpPr>
          <p:cNvPr id="10" name="Shape 6"/>
          <p:cNvSpPr/>
          <p:nvPr/>
        </p:nvSpPr>
        <p:spPr>
          <a:xfrm>
            <a:off x="1947377" y="3009781"/>
            <a:ext cx="574393" cy="160431"/>
          </a:xfrm>
          <a:prstGeom prst="roundRect">
            <a:avLst>
              <a:gd name="adj" fmla="val 79795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384" y="3045419"/>
            <a:ext cx="89154" cy="8915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118256" y="3032069"/>
            <a:ext cx="351508" cy="115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F1 Score</a:t>
            </a:r>
            <a:endParaRPr lang="en-US" sz="7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09" y="3244507"/>
            <a:ext cx="5646420" cy="292722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8309" y="6385203"/>
            <a:ext cx="5646777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Threshold </a:t>
            </a:r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0.40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chosen: 86.7% recall, 20.5% precision (5.9× base rate), F1=0.3319. Lower thresholds flood the review queue; higher thresholds miss more fraud.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6875145" y="2484834"/>
            <a:ext cx="4161115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Top Feature Importance (XGBoost)</a:t>
            </a:r>
            <a:endParaRPr lang="en-US" sz="1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5145" y="3009781"/>
            <a:ext cx="7002780" cy="392524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828" y="596622"/>
            <a:ext cx="12092702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XGBoost: Confusion Matrix &amp; Hyperparameter Tuning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22828" y="1621512"/>
            <a:ext cx="5537716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Confusion Matrix (Validation Set — 118,108 rows)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722828" y="2112407"/>
            <a:ext cx="5963126" cy="5077063"/>
          </a:xfrm>
          <a:prstGeom prst="roundRect">
            <a:avLst>
              <a:gd name="adj" fmla="val 149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0448" y="2120027"/>
            <a:ext cx="5947886" cy="78652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1304" y="2230993"/>
            <a:ext cx="1192649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Cell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72809" y="2230993"/>
            <a:ext cx="107346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Count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15132" y="2230993"/>
            <a:ext cx="930712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% Val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14699" y="2230993"/>
            <a:ext cx="1283018" cy="56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Business Meaning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0448" y="2906554"/>
            <a:ext cx="5947886" cy="106882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11304" y="3017520"/>
            <a:ext cx="1192649" cy="846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True Negatives (TN)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72809" y="3017520"/>
            <a:ext cx="107346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109,876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15132" y="3017520"/>
            <a:ext cx="930712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93.03%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4699" y="3017520"/>
            <a:ext cx="1283018" cy="846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Correctly approved — zero friction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0448" y="3975378"/>
            <a:ext cx="5947886" cy="106882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11304" y="4086344"/>
            <a:ext cx="1192649" cy="56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False Positives (FP)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72809" y="4086344"/>
            <a:ext cx="107346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13,580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15132" y="4086344"/>
            <a:ext cx="930712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11.50%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4699" y="4086344"/>
            <a:ext cx="1283018" cy="846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Legit flagged — manual review cost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0448" y="5044202"/>
            <a:ext cx="5947886" cy="106882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11304" y="5155168"/>
            <a:ext cx="1192649" cy="846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False Negatives (FN)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472809" y="5155168"/>
            <a:ext cx="107346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546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15132" y="5155168"/>
            <a:ext cx="930712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0.46%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14699" y="5155168"/>
            <a:ext cx="1283018" cy="846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Missed fraud — 13.3% of actual fraud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0448" y="6113026"/>
            <a:ext cx="5947886" cy="106882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11304" y="6223992"/>
            <a:ext cx="1192649" cy="56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True Positives (TP)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472809" y="6223992"/>
            <a:ext cx="107346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3,575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915132" y="6223992"/>
            <a:ext cx="930712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3.03%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14699" y="6223992"/>
            <a:ext cx="1283018" cy="846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Fraud caught — 86.7% capture rate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34344" y="1621512"/>
            <a:ext cx="500372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GridSearchCV Hyperparameter Optimization</a:t>
            </a:r>
            <a:endParaRPr lang="en-US" sz="1850" dirty="0"/>
          </a:p>
        </p:txBody>
      </p:sp>
      <p:sp>
        <p:nvSpPr>
          <p:cNvPr id="31" name="Shape 29"/>
          <p:cNvSpPr/>
          <p:nvPr/>
        </p:nvSpPr>
        <p:spPr>
          <a:xfrm>
            <a:off x="7134344" y="2112407"/>
            <a:ext cx="6780728" cy="4169807"/>
          </a:xfrm>
          <a:prstGeom prst="roundRect">
            <a:avLst>
              <a:gd name="adj" fmla="val 182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41964" y="2120027"/>
            <a:ext cx="6765488" cy="50423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322820" y="2230993"/>
            <a:ext cx="163341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Hyperparameter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325094" y="2230993"/>
            <a:ext cx="137183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Grid Values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065788" y="2230993"/>
            <a:ext cx="1015960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Best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2450604" y="2230993"/>
            <a:ext cx="1276231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Impact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141964" y="2624257"/>
            <a:ext cx="6765488" cy="78652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322820" y="2735223"/>
            <a:ext cx="163341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max_depth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325094" y="2735223"/>
            <a:ext cx="137183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[4, 6]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1065788" y="2735223"/>
            <a:ext cx="1015960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2450604" y="2735223"/>
            <a:ext cx="1276231" cy="56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Bias-variance balance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141964" y="3410783"/>
            <a:ext cx="6765488" cy="50423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322820" y="3521750"/>
            <a:ext cx="163341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n_estimators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325094" y="3521750"/>
            <a:ext cx="137183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[200, 400]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1065788" y="3521750"/>
            <a:ext cx="1015960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400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2450604" y="3521750"/>
            <a:ext cx="1276231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Improves AUC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7141964" y="3915013"/>
            <a:ext cx="6765488" cy="78652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7322820" y="4025979"/>
            <a:ext cx="163341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learning_rate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9325094" y="4025979"/>
            <a:ext cx="137183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0.1 fixed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1065788" y="4025979"/>
            <a:ext cx="1015960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0.1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2450604" y="4025979"/>
            <a:ext cx="1276231" cy="56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Stable convergence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7141964" y="4701540"/>
            <a:ext cx="6765488" cy="78652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7322820" y="4812506"/>
            <a:ext cx="163341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scale_pos_weight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9325094" y="4812506"/>
            <a:ext cx="137183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11065788" y="4812506"/>
            <a:ext cx="1015960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~27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12450604" y="4812506"/>
            <a:ext cx="1276231" cy="56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Handles 27:1 imbalance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7141964" y="5488067"/>
            <a:ext cx="6765488" cy="78652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7322820" y="5599033"/>
            <a:ext cx="163341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tree_method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9325094" y="5599033"/>
            <a:ext cx="137183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hist fixed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11065788" y="5599033"/>
            <a:ext cx="1015960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hist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12450604" y="5599033"/>
            <a:ext cx="1276231" cy="56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Efficient on tabular data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7134344" y="6475928"/>
            <a:ext cx="678072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7134344" y="6913245"/>
            <a:ext cx="6780728" cy="56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3-fold stratified CV over 4-combination grid = </a:t>
            </a:r>
            <a:pPr algn="l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 fits</a:t>
            </a:r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 Best CV AUC-ROC: </a:t>
            </a:r>
            <a:pPr algn="l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0.9387</a:t>
            </a:r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 Validation AUC-ROC: </a:t>
            </a:r>
            <a:pPr algn="l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0.9460</a:t>
            </a:r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672227"/>
            <a:ext cx="9946600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Phase 5: MLOps — Tracking &amp; Deployment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21863" y="1580078"/>
            <a:ext cx="5648206" cy="5977295"/>
          </a:xfrm>
          <a:prstGeom prst="roundRect">
            <a:avLst>
              <a:gd name="adj" fmla="val 2417"/>
            </a:avLst>
          </a:prstGeom>
          <a:solidFill>
            <a:srgbClr val="510C04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11411" y="1769626"/>
            <a:ext cx="4017526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MLflow Experiment Configuration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811411" y="2294573"/>
            <a:ext cx="5269111" cy="5049560"/>
          </a:xfrm>
          <a:prstGeom prst="roundRect">
            <a:avLst>
              <a:gd name="adj" fmla="val 1577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9031" y="2302193"/>
            <a:ext cx="5253871" cy="5459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08697" y="2423517"/>
            <a:ext cx="1981319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Component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376732" y="2423517"/>
            <a:ext cx="2506623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Detail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19031" y="2848094"/>
            <a:ext cx="5253871" cy="8491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08697" y="2969419"/>
            <a:ext cx="1981319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Tracking Server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376732" y="2969419"/>
            <a:ext cx="2506623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Databricks (USE_DATABRICKS=True)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19031" y="3697248"/>
            <a:ext cx="5253871" cy="5459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08697" y="3818573"/>
            <a:ext cx="1981319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MLflow Version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376732" y="3818573"/>
            <a:ext cx="2506623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2.13.2 vanilla override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19031" y="4243149"/>
            <a:ext cx="5253871" cy="5459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08697" y="4364474"/>
            <a:ext cx="1981319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Experiment Name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376732" y="4364474"/>
            <a:ext cx="2506623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fraud_detection_project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19031" y="4789051"/>
            <a:ext cx="5253871" cy="8491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08697" y="4910376"/>
            <a:ext cx="1981319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Runs Logged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376732" y="4910376"/>
            <a:ext cx="2506623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 total (3 final + 2 GridSearchCV)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19031" y="5638205"/>
            <a:ext cx="5253871" cy="8491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08697" y="5759529"/>
            <a:ext cx="1981319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Model Persistence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3376732" y="5759529"/>
            <a:ext cx="2506623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gbt_champion.pkl + scaler.pkl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819031" y="6487358"/>
            <a:ext cx="5253871" cy="8491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08697" y="6608683"/>
            <a:ext cx="1981319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 Metrics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3376732" y="6608683"/>
            <a:ext cx="2506623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AUC-ROC, AUC-PR, fraud_capture_pct, P, R, F1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603683" y="1769626"/>
            <a:ext cx="4513183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3-Tier Risk Classification Architecture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6603683" y="2294573"/>
            <a:ext cx="7275909" cy="3108603"/>
          </a:xfrm>
          <a:prstGeom prst="roundRect">
            <a:avLst>
              <a:gd name="adj" fmla="val 2561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11303" y="2302193"/>
            <a:ext cx="7260669" cy="5459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801326" y="2423517"/>
            <a:ext cx="87820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Tier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066246" y="2423517"/>
            <a:ext cx="1113234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Threshold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566196" y="2423517"/>
            <a:ext cx="1113234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Decision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11066145" y="2423517"/>
            <a:ext cx="134850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Transactions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12801362" y="2423517"/>
            <a:ext cx="881063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% Total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6611303" y="2848094"/>
            <a:ext cx="7260669" cy="8491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801326" y="2969419"/>
            <a:ext cx="87820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E7D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LOW RISK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8066246" y="2969419"/>
            <a:ext cx="1113234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&lt; 0.40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9566196" y="2969419"/>
            <a:ext cx="1113234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AUTO-APPROVE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11066145" y="2969419"/>
            <a:ext cx="134850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434,448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12801362" y="2969419"/>
            <a:ext cx="881063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85.8%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6611303" y="3697248"/>
            <a:ext cx="7260669" cy="8491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801326" y="3818573"/>
            <a:ext cx="878205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57C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MEDIUM RISK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8066246" y="3818573"/>
            <a:ext cx="1113234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0.40–0.85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9566196" y="3818573"/>
            <a:ext cx="1113234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MANUAL REVIEW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11066145" y="3818573"/>
            <a:ext cx="134850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58,171</a:t>
            </a:r>
            <a:endParaRPr lang="en-US" sz="1450" dirty="0"/>
          </a:p>
        </p:txBody>
      </p:sp>
      <p:sp>
        <p:nvSpPr>
          <p:cNvPr id="46" name="Text 44"/>
          <p:cNvSpPr/>
          <p:nvPr/>
        </p:nvSpPr>
        <p:spPr>
          <a:xfrm>
            <a:off x="12801362" y="3818573"/>
            <a:ext cx="881063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11.5%</a:t>
            </a:r>
            <a:endParaRPr lang="en-US" sz="1450" dirty="0"/>
          </a:p>
        </p:txBody>
      </p:sp>
      <p:sp>
        <p:nvSpPr>
          <p:cNvPr id="47" name="Shape 45"/>
          <p:cNvSpPr/>
          <p:nvPr/>
        </p:nvSpPr>
        <p:spPr>
          <a:xfrm>
            <a:off x="6611303" y="4546402"/>
            <a:ext cx="7260669" cy="8491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801326" y="4667726"/>
            <a:ext cx="87820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C9131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HIGH RISK</a:t>
            </a:r>
            <a:endParaRPr lang="en-US" sz="1450" dirty="0"/>
          </a:p>
        </p:txBody>
      </p:sp>
      <p:sp>
        <p:nvSpPr>
          <p:cNvPr id="49" name="Text 47"/>
          <p:cNvSpPr/>
          <p:nvPr/>
        </p:nvSpPr>
        <p:spPr>
          <a:xfrm>
            <a:off x="8066246" y="4667726"/>
            <a:ext cx="1113234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≥ 0.85</a:t>
            </a:r>
            <a:endParaRPr lang="en-US" sz="1450" dirty="0"/>
          </a:p>
        </p:txBody>
      </p:sp>
      <p:sp>
        <p:nvSpPr>
          <p:cNvPr id="50" name="Text 48"/>
          <p:cNvSpPr/>
          <p:nvPr/>
        </p:nvSpPr>
        <p:spPr>
          <a:xfrm>
            <a:off x="9566196" y="4667726"/>
            <a:ext cx="1113234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AUTO-DECLINE</a:t>
            </a:r>
            <a:endParaRPr lang="en-US" sz="1450" dirty="0"/>
          </a:p>
        </p:txBody>
      </p:sp>
      <p:sp>
        <p:nvSpPr>
          <p:cNvPr id="51" name="Text 49"/>
          <p:cNvSpPr/>
          <p:nvPr/>
        </p:nvSpPr>
        <p:spPr>
          <a:xfrm>
            <a:off x="11066145" y="4667726"/>
            <a:ext cx="134850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14,072</a:t>
            </a:r>
            <a:endParaRPr lang="en-US" sz="1450" dirty="0"/>
          </a:p>
        </p:txBody>
      </p:sp>
      <p:sp>
        <p:nvSpPr>
          <p:cNvPr id="52" name="Text 50"/>
          <p:cNvSpPr/>
          <p:nvPr/>
        </p:nvSpPr>
        <p:spPr>
          <a:xfrm>
            <a:off x="12801362" y="4667726"/>
            <a:ext cx="881063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2.8%</a:t>
            </a:r>
            <a:endParaRPr lang="en-US" sz="1450" dirty="0"/>
          </a:p>
        </p:txBody>
      </p:sp>
      <p:sp>
        <p:nvSpPr>
          <p:cNvPr id="53" name="Text 51"/>
          <p:cNvSpPr/>
          <p:nvPr/>
        </p:nvSpPr>
        <p:spPr>
          <a:xfrm>
            <a:off x="6603683" y="5616416"/>
            <a:ext cx="7275909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Deployed as a widget-parameterized Databricks notebook scoring all 506,691 test transactions. Tier boundaries minimize review queue burden while maximizing high-confidence auto-decisions.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3654" y="539710"/>
            <a:ext cx="6589752" cy="54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Business Impact Quantification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3654" y="1375767"/>
            <a:ext cx="13303091" cy="497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Projected annual financial impact of deploying XGBoost champion vs. no-model baseline. Assumptions: $10M annual fraud volume, $10 per false-positive manual review cost.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654" y="2037040"/>
            <a:ext cx="11445115" cy="405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3654" y="6341864"/>
            <a:ext cx="4313396" cy="547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4300" dirty="0">
                <a:solidFill>
                  <a:srgbClr val="FFE5E5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$8.67M</a:t>
            </a:r>
            <a:endParaRPr lang="en-US" sz="4300" dirty="0"/>
          </a:p>
        </p:txBody>
      </p:sp>
      <p:sp>
        <p:nvSpPr>
          <p:cNvPr id="6" name="Text 3"/>
          <p:cNvSpPr/>
          <p:nvPr/>
        </p:nvSpPr>
        <p:spPr>
          <a:xfrm>
            <a:off x="1728788" y="7081004"/>
            <a:ext cx="2183130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Fraud Prevented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63654" y="7440930"/>
            <a:ext cx="4313396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86.7% of $10M baseline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158502" y="6341864"/>
            <a:ext cx="4313396" cy="547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4300" dirty="0">
                <a:solidFill>
                  <a:srgbClr val="FFE5E5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721K</a:t>
            </a:r>
            <a:endParaRPr lang="en-US" sz="4300" dirty="0"/>
          </a:p>
        </p:txBody>
      </p:sp>
      <p:sp>
        <p:nvSpPr>
          <p:cNvPr id="9" name="Text 6"/>
          <p:cNvSpPr/>
          <p:nvPr/>
        </p:nvSpPr>
        <p:spPr>
          <a:xfrm>
            <a:off x="6223635" y="7081004"/>
            <a:ext cx="2183130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Annual FP Reviews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158502" y="7440930"/>
            <a:ext cx="4313396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Scaled to $10M volume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53349" y="6341864"/>
            <a:ext cx="4313396" cy="547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4300" dirty="0">
                <a:solidFill>
                  <a:srgbClr val="FFE5E5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$1.45M</a:t>
            </a:r>
            <a:endParaRPr lang="en-US" sz="4300" dirty="0"/>
          </a:p>
        </p:txBody>
      </p:sp>
      <p:sp>
        <p:nvSpPr>
          <p:cNvPr id="12" name="Text 9"/>
          <p:cNvSpPr/>
          <p:nvPr/>
        </p:nvSpPr>
        <p:spPr>
          <a:xfrm>
            <a:off x="10718483" y="7081004"/>
            <a:ext cx="2183130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Net Annual Benefit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9653349" y="7440930"/>
            <a:ext cx="4313396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ROI vs. no-model baseline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869513"/>
            <a:ext cx="7627382" cy="124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Phase 6: Actionable Business Recommendations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971550" y="2400895"/>
            <a:ext cx="22860" cy="4959072"/>
          </a:xfrm>
          <a:prstGeom prst="roundRect">
            <a:avLst>
              <a:gd name="adj" fmla="val 348309"/>
            </a:avLst>
          </a:prstGeom>
          <a:solidFill>
            <a:srgbClr val="8D2424"/>
          </a:solidFill>
          <a:ln/>
        </p:spPr>
      </p:sp>
      <p:sp>
        <p:nvSpPr>
          <p:cNvPr id="5" name="Shape 2"/>
          <p:cNvSpPr/>
          <p:nvPr/>
        </p:nvSpPr>
        <p:spPr>
          <a:xfrm>
            <a:off x="1161931" y="2602706"/>
            <a:ext cx="568643" cy="22860"/>
          </a:xfrm>
          <a:prstGeom prst="roundRect">
            <a:avLst>
              <a:gd name="adj" fmla="val 348309"/>
            </a:avLst>
          </a:prstGeom>
          <a:solidFill>
            <a:srgbClr val="8D2424"/>
          </a:solidFill>
          <a:ln/>
        </p:spPr>
      </p:sp>
      <p:sp>
        <p:nvSpPr>
          <p:cNvPr id="6" name="Shape 3"/>
          <p:cNvSpPr/>
          <p:nvPr/>
        </p:nvSpPr>
        <p:spPr>
          <a:xfrm>
            <a:off x="758309" y="2400895"/>
            <a:ext cx="426482" cy="426482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1888" y="2427089"/>
            <a:ext cx="299323" cy="37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FFE5E5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</a:t>
            </a:r>
            <a:endParaRPr lang="en-US" sz="2350" dirty="0"/>
          </a:p>
        </p:txBody>
      </p:sp>
      <p:sp>
        <p:nvSpPr>
          <p:cNvPr id="8" name="Text 5"/>
          <p:cNvSpPr/>
          <p:nvPr/>
        </p:nvSpPr>
        <p:spPr>
          <a:xfrm>
            <a:off x="1919407" y="2466023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0–3 Months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919407" y="2891433"/>
            <a:ext cx="6466284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Deploy XGBoost 3-tier system. Add email domain pre-screening. Set weekly C-series PSI drift alerts. Apply device-type risk routing with stricter mobile/unknown thresholds.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1161931" y="4382095"/>
            <a:ext cx="568643" cy="22860"/>
          </a:xfrm>
          <a:prstGeom prst="roundRect">
            <a:avLst>
              <a:gd name="adj" fmla="val 348309"/>
            </a:avLst>
          </a:prstGeom>
          <a:solidFill>
            <a:srgbClr val="8D2424"/>
          </a:solidFill>
          <a:ln/>
        </p:spPr>
      </p:sp>
      <p:sp>
        <p:nvSpPr>
          <p:cNvPr id="11" name="Shape 8"/>
          <p:cNvSpPr/>
          <p:nvPr/>
        </p:nvSpPr>
        <p:spPr>
          <a:xfrm>
            <a:off x="758309" y="4180284"/>
            <a:ext cx="426482" cy="426482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1888" y="4206478"/>
            <a:ext cx="299323" cy="37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FFE5E5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2</a:t>
            </a:r>
            <a:endParaRPr lang="en-US" sz="2350" dirty="0"/>
          </a:p>
        </p:txBody>
      </p:sp>
      <p:sp>
        <p:nvSpPr>
          <p:cNvPr id="13" name="Text 10"/>
          <p:cNvSpPr/>
          <p:nvPr/>
        </p:nvSpPr>
        <p:spPr>
          <a:xfrm>
            <a:off x="1919407" y="4245412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3–12 Months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1919407" y="4670822"/>
            <a:ext cx="6466284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Implement time-of-day thresholding. Add secondary precision classifier for MEDIUM_RISK (reduce review queue 20–30%). Deploy SHAP explanations. Optimize via SMOTE to raise precision to 30–35%.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1161931" y="6161484"/>
            <a:ext cx="568643" cy="22860"/>
          </a:xfrm>
          <a:prstGeom prst="roundRect">
            <a:avLst>
              <a:gd name="adj" fmla="val 348309"/>
            </a:avLst>
          </a:prstGeom>
          <a:solidFill>
            <a:srgbClr val="8D2424"/>
          </a:solidFill>
          <a:ln/>
        </p:spPr>
      </p:sp>
      <p:sp>
        <p:nvSpPr>
          <p:cNvPr id="16" name="Shape 13"/>
          <p:cNvSpPr/>
          <p:nvPr/>
        </p:nvSpPr>
        <p:spPr>
          <a:xfrm>
            <a:off x="758309" y="5959673"/>
            <a:ext cx="426482" cy="426482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1888" y="5985867"/>
            <a:ext cx="299323" cy="37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FFE5E5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3</a:t>
            </a:r>
            <a:endParaRPr lang="en-US" sz="2350" dirty="0"/>
          </a:p>
        </p:txBody>
      </p:sp>
      <p:sp>
        <p:nvSpPr>
          <p:cNvPr id="18" name="Text 15"/>
          <p:cNvSpPr/>
          <p:nvPr/>
        </p:nvSpPr>
        <p:spPr>
          <a:xfrm>
            <a:off x="1919407" y="6024801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12+ Months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1919407" y="6450211"/>
            <a:ext cx="6466284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Real-time pre-settlement scoring. Unsupervised autoencoder for zero-day fraud. Graph Neural Network for coordinated fraud rings. Online learning with automated drift detection.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931" y="1293971"/>
            <a:ext cx="8140422" cy="487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Challenges, Lessons Learned &amp; Future Work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1161931" y="2071330"/>
            <a:ext cx="2721173" cy="243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Key Challenges &amp; Mitigations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161931" y="2445425"/>
            <a:ext cx="5972413" cy="3686889"/>
          </a:xfrm>
          <a:prstGeom prst="roundRect">
            <a:avLst>
              <a:gd name="adj" fmla="val 1689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9551" y="2453045"/>
            <a:ext cx="5957173" cy="3655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318022" y="2530197"/>
            <a:ext cx="1784628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Challenge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406735" y="2530197"/>
            <a:ext cx="1780818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Mitigation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91639" y="2530197"/>
            <a:ext cx="1486853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Outcome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169551" y="2818567"/>
            <a:ext cx="5957173" cy="7879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318022" y="2895719"/>
            <a:ext cx="1784628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3.5% class imbalance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06735" y="2895719"/>
            <a:ext cx="1780818" cy="633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scale_pos_weight=26.6; AUC-ROC/PR metrics only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91639" y="2895719"/>
            <a:ext cx="1486853" cy="422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86.7% recall achieved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169551" y="3606522"/>
            <a:ext cx="5957173" cy="7879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318022" y="3683675"/>
            <a:ext cx="1784628" cy="422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55% of 434 cols &gt;60% null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06735" y="3683675"/>
            <a:ext cx="1780818" cy="633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Drop &gt;60%; median/mode impute; fillna(0)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91639" y="3683675"/>
            <a:ext cx="1486853" cy="422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434→43 features; AUC=0.946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169551" y="4394478"/>
            <a:ext cx="5957173" cy="57673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318022" y="4471630"/>
            <a:ext cx="1784628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MLflow gRPC conflicts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06735" y="4471630"/>
            <a:ext cx="1780818" cy="422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mlflow==2.13.2 vanilla; USE_DATABRICKS=True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91639" y="4471630"/>
            <a:ext cx="1486853" cy="422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All runs logged correctly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169551" y="4971217"/>
            <a:ext cx="5957173" cy="57673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318022" y="5048369"/>
            <a:ext cx="1784628" cy="422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V-series features dropped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406735" y="5048369"/>
            <a:ext cx="1780818" cy="422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Documented; future iterative imputation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91639" y="5048369"/>
            <a:ext cx="1486853" cy="422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AUC could reach 0.96–0.97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169551" y="5547955"/>
            <a:ext cx="5957173" cy="57673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318022" y="5625108"/>
            <a:ext cx="1784628" cy="422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Py4J network errors in RF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406735" y="5625108"/>
            <a:ext cx="1780818" cy="422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Verified cosmetic; training completed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91639" y="5625108"/>
            <a:ext cx="1486853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RF AUC-ROC = 0.9164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503676" y="2071330"/>
            <a:ext cx="2035373" cy="243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Future Work Priorities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503676" y="2445425"/>
            <a:ext cx="5972413" cy="3264456"/>
          </a:xfrm>
          <a:prstGeom prst="roundRect">
            <a:avLst>
              <a:gd name="adj" fmla="val 1907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11296" y="2453045"/>
            <a:ext cx="5957173" cy="3655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659767" y="2530197"/>
            <a:ext cx="295394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#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259247" y="2530197"/>
            <a:ext cx="2376607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Extension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939939" y="2530197"/>
            <a:ext cx="1185148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Impact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2429173" y="2530197"/>
            <a:ext cx="891064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b="1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Effort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511296" y="2818567"/>
            <a:ext cx="5957173" cy="57673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7659767" y="2895719"/>
            <a:ext cx="295394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259247" y="2895719"/>
            <a:ext cx="2376607" cy="422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Recover V-series via iterative imputation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0939939" y="2895719"/>
            <a:ext cx="1185148" cy="422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+1–3pp AUC-ROC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2429173" y="2895719"/>
            <a:ext cx="891064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Medium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511296" y="3395305"/>
            <a:ext cx="5957173" cy="57673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659767" y="3472458"/>
            <a:ext cx="295394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8259247" y="3472458"/>
            <a:ext cx="2376607" cy="422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SHAP explanations for MEDIUM_RISK queue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0939939" y="3472458"/>
            <a:ext cx="1185148" cy="422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20–30% analyst efficiency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2429173" y="3472458"/>
            <a:ext cx="891064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Low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7511296" y="3972044"/>
            <a:ext cx="5957173" cy="57673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659767" y="4049197"/>
            <a:ext cx="295394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8259247" y="4049197"/>
            <a:ext cx="2376607" cy="422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Secondary precision layer (0.40–0.60 band)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10939939" y="4049197"/>
            <a:ext cx="1185148" cy="422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+10–15pp precision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12429173" y="4049197"/>
            <a:ext cx="891064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Medium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7511296" y="4548783"/>
            <a:ext cx="5957173" cy="57673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7659767" y="4625935"/>
            <a:ext cx="295394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8259247" y="4625935"/>
            <a:ext cx="2376607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Real-time streaming inference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10939939" y="4625935"/>
            <a:ext cx="1185148" cy="422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Pre-settlement blocking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12429173" y="4625935"/>
            <a:ext cx="891064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High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7511296" y="5125522"/>
            <a:ext cx="5957173" cy="57673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7659767" y="5202674"/>
            <a:ext cx="295394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8259247" y="5202674"/>
            <a:ext cx="2376607" cy="422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Graph Neural Network / Autoencoder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10939939" y="5202674"/>
            <a:ext cx="1185148" cy="422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Zero-day &amp; ring detection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12429173" y="5202674"/>
            <a:ext cx="891064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Very High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7503676" y="5840254"/>
            <a:ext cx="5972413" cy="964882"/>
          </a:xfrm>
          <a:prstGeom prst="roundRect">
            <a:avLst>
              <a:gd name="adj" fmla="val 6454"/>
            </a:avLst>
          </a:prstGeom>
          <a:solidFill>
            <a:srgbClr val="460707"/>
          </a:solidFill>
          <a:ln/>
        </p:spPr>
      </p:sp>
      <p:pic>
        <p:nvPicPr>
          <p:cNvPr id="6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1909" y="6048137"/>
            <a:ext cx="185261" cy="148233"/>
          </a:xfrm>
          <a:prstGeom prst="rect">
            <a:avLst/>
          </a:prstGeom>
        </p:spPr>
      </p:pic>
      <p:sp>
        <p:nvSpPr>
          <p:cNvPr id="63" name="Text 60"/>
          <p:cNvSpPr/>
          <p:nvPr/>
        </p:nvSpPr>
        <p:spPr>
          <a:xfrm>
            <a:off x="7985403" y="5993130"/>
            <a:ext cx="5342453" cy="633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Lessons Learned: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Data quality matters more than model tuning. Use AUC-ROC and fraud capture — not accuracy. MLOps tracking saves costly retrains. Constraints (Free Edition) forced durable, auditable architecture.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13383" y="904161"/>
            <a:ext cx="4125516" cy="515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00" dirty="0">
                <a:solidFill>
                  <a:srgbClr val="FAEBE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113383" y="1614249"/>
            <a:ext cx="7890034" cy="916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This project demonstrates that scalable, production-grade fraud detection is achievable on cloud-native big data platforms. By combining rigorous preprocessing, feature engineering, and advanced machine learning, the system effectively distinguishes fraudulent from legitimate transactions while informing a risk-based decision strategy that balances automation and manual review.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113383" y="2676287"/>
            <a:ext cx="7890034" cy="1122402"/>
          </a:xfrm>
          <a:prstGeom prst="roundRect">
            <a:avLst>
              <a:gd name="adj" fmla="val 5866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77689" y="2840593"/>
            <a:ext cx="2065496" cy="25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Technical Excellence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277689" y="3176230"/>
            <a:ext cx="7561421" cy="45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XGBoost AUC-ROC 0.9460, AUC-PR 0.6753 — 19 points above logistic regression baseline across 590K transactions.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13383" y="3928229"/>
            <a:ext cx="7890034" cy="893326"/>
          </a:xfrm>
          <a:prstGeom prst="roundRect">
            <a:avLst>
              <a:gd name="adj" fmla="val 7371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77689" y="4092535"/>
            <a:ext cx="2062758" cy="25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Business Value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277689" y="4428173"/>
            <a:ext cx="7561421" cy="229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$1.45M projected net annual benefit via 3-tier risk architecture with 86.7% fraud capture rate.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13383" y="4951095"/>
            <a:ext cx="7890034" cy="1122402"/>
          </a:xfrm>
          <a:prstGeom prst="roundRect">
            <a:avLst>
              <a:gd name="adj" fmla="val 5866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77689" y="5115401"/>
            <a:ext cx="2062758" cy="25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MLOps Maturity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277689" y="5451038"/>
            <a:ext cx="7561421" cy="45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 pipeline phases, full MLflow tracking, Delta Lake versioning, reproducible artifacts, and champion model persistence.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13383" y="6203037"/>
            <a:ext cx="7890034" cy="1122402"/>
          </a:xfrm>
          <a:prstGeom prst="roundRect">
            <a:avLst>
              <a:gd name="adj" fmla="val 5866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77689" y="6367343"/>
            <a:ext cx="2062758" cy="25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Future-Ready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277689" y="6702981"/>
            <a:ext cx="7561421" cy="45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Roadmap includes real-time scoring, GNN fraud ring detection, and online learning for continuous adaptation to emerging threats.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2026-03-06T03:56:18Z</dcterms:created>
  <dcterms:modified xsi:type="dcterms:W3CDTF">2026-03-06T03:56:18Z</dcterms:modified>
</cp:coreProperties>
</file>